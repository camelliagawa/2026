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B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8900"/>
          </a:xfrm>
          <a:prstGeom prst="rect">
            <a:avLst/>
          </a:prstGeom>
          <a:solidFill>
            <a:srgbClr val="E23B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788920"/>
            <a:ext cx="12191695" cy="3246120"/>
          </a:xfrm>
          <a:prstGeom prst="rect">
            <a:avLst/>
          </a:prstGeom>
          <a:solidFill>
            <a:srgbClr val="1E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900" b="1">
                <a:solidFill>
                  <a:srgbClr val="9FB4D8"/>
                </a:solidFill>
                <a:latin typeface="Meiryo"/>
                <a:ea typeface="Meiryo"/>
                <a:cs typeface="Meiryo"/>
              </a:rPr>
              <a:t>包丁 研磨ルート生成ツール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914400"/>
            <a:ext cx="10607040" cy="10058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4200" b="1">
                <a:solidFill>
                  <a:srgbClr val="E23B50"/>
                </a:solidFill>
                <a:latin typeface="Meiryo"/>
                <a:ea typeface="Meiryo"/>
                <a:cs typeface="Meiryo"/>
              </a:rPr>
              <a:t>写真1枚</a:t>
            </a:r>
            <a:r>
              <a:rPr sz="42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で、包丁研磨を</a:t>
            </a:r>
            <a:r>
              <a:rPr sz="4200" b="1">
                <a:solidFill>
                  <a:srgbClr val="14A86E"/>
                </a:solidFill>
                <a:latin typeface="Meiryo"/>
                <a:ea typeface="Meiryo"/>
                <a:cs typeface="Meiryo"/>
              </a:rPr>
              <a:t>ロボット化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1993392"/>
            <a:ext cx="1060704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650" b="0">
                <a:solidFill>
                  <a:srgbClr val="CFDAEC"/>
                </a:solidFill>
                <a:latin typeface="Meiryo"/>
                <a:ea typeface="Meiryo"/>
                <a:cs typeface="Meiryo"/>
              </a:rPr>
              <a:t>A4用紙の上で包丁を撮影するだけ。刃の形状を自動で計測し、研磨ロボット（RoboDK）用の研磨ルートCSVを生成します。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1537716" y="3008376"/>
            <a:ext cx="3371088" cy="25328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60960" dist="25400" dir="5400000" rotWithShape="0">
              <a:srgbClr val="1B2233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hero_phot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6860" y="3017520"/>
            <a:ext cx="3352800" cy="2514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8680" y="5532120"/>
            <a:ext cx="470916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300" b="1">
                <a:solidFill>
                  <a:srgbClr val="9FB4D8"/>
                </a:solidFill>
                <a:latin typeface="Meiryo"/>
                <a:ea typeface="Meiryo"/>
                <a:cs typeface="Meiryo"/>
              </a:rPr>
              <a:t>INPUT　包丁を撮影した写真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760720" y="3886200"/>
            <a:ext cx="777240" cy="777240"/>
          </a:xfrm>
          <a:prstGeom prst="rightArrow">
            <a:avLst/>
          </a:prstGeom>
          <a:solidFill>
            <a:srgbClr val="E23B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803384" y="2898648"/>
            <a:ext cx="2361192" cy="2761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60960" dist="25400" dir="5400000" rotWithShape="0">
              <a:srgbClr val="1B2233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f_result3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2528" y="2907792"/>
            <a:ext cx="2342904" cy="27432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720840" y="5532120"/>
            <a:ext cx="452628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300" b="1">
                <a:solidFill>
                  <a:srgbClr val="8FE6C2"/>
                </a:solidFill>
                <a:latin typeface="Meiryo"/>
                <a:ea typeface="Meiryo"/>
                <a:cs typeface="Meiryo"/>
              </a:rPr>
              <a:t>OUTPUT　研磨ルート（3D）＋ CSV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6053328"/>
            <a:ext cx="3520440" cy="566928"/>
          </a:xfrm>
          <a:prstGeom prst="roundRect">
            <a:avLst/>
          </a:prstGeom>
          <a:solidFill>
            <a:srgbClr val="273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6053328"/>
            <a:ext cx="352044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500" b="1">
                <a:solidFill>
                  <a:srgbClr val="14A86E"/>
                </a:solidFill>
                <a:latin typeface="Meiryo"/>
                <a:ea typeface="Meiryo"/>
                <a:cs typeface="Meiryo"/>
              </a:rPr>
              <a:t>✓ </a:t>
            </a:r>
            <a:r>
              <a:rPr sz="145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計測器いらず（A4用紙だけ）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17720" y="6053328"/>
            <a:ext cx="3520440" cy="566928"/>
          </a:xfrm>
          <a:prstGeom prst="roundRect">
            <a:avLst/>
          </a:prstGeom>
          <a:solidFill>
            <a:srgbClr val="273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6053328"/>
            <a:ext cx="352044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500" b="1">
                <a:solidFill>
                  <a:srgbClr val="14A86E"/>
                </a:solidFill>
                <a:latin typeface="Meiryo"/>
                <a:ea typeface="Meiryo"/>
                <a:cs typeface="Meiryo"/>
              </a:rPr>
              <a:t>✓ </a:t>
            </a:r>
            <a:r>
              <a:rPr sz="145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撮影〜CSV出力まで数分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12480" y="6053328"/>
            <a:ext cx="3520440" cy="566928"/>
          </a:xfrm>
          <a:prstGeom prst="roundRect">
            <a:avLst/>
          </a:prstGeom>
          <a:solidFill>
            <a:srgbClr val="273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6053328"/>
            <a:ext cx="352044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500" b="1">
                <a:solidFill>
                  <a:srgbClr val="14A86E"/>
                </a:solidFill>
                <a:latin typeface="Meiryo"/>
                <a:ea typeface="Meiryo"/>
                <a:cs typeface="Meiryo"/>
              </a:rPr>
              <a:t>✓ </a:t>
            </a:r>
            <a:r>
              <a:rPr sz="145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RoboDKでそのまま研磨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21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0800"/>
          </a:xfrm>
          <a:prstGeom prst="rect">
            <a:avLst/>
          </a:prstGeom>
          <a:solidFill>
            <a:srgbClr val="E23B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310896"/>
            <a:ext cx="101600" cy="420624"/>
          </a:xfrm>
          <a:prstGeom prst="rect">
            <a:avLst/>
          </a:prstGeom>
          <a:solidFill>
            <a:srgbClr val="E23B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0"/>
            <a:ext cx="7772400" cy="10241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主な特長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0"/>
            <a:ext cx="7253935" cy="10241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500" b="0">
                <a:solidFill>
                  <a:srgbClr val="9FB4D8"/>
                </a:solidFill>
                <a:latin typeface="Meiryo"/>
                <a:ea typeface="Meiryo"/>
                <a:cs typeface="Meiryo"/>
              </a:rPr>
              <a:t>撮影から研磨ルート出力までを一気通貫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25880"/>
            <a:ext cx="2627299" cy="50749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60960" dist="25400" dir="5400000" rotWithShape="0">
              <a:srgbClr val="1B2233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325880"/>
            <a:ext cx="2627299" cy="566928"/>
          </a:xfrm>
          <a:prstGeom prst="roundRect">
            <a:avLst/>
          </a:prstGeom>
          <a:solidFill>
            <a:srgbClr val="E23B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325880"/>
            <a:ext cx="2627299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700" b="0">
                <a:solidFill>
                  <a:srgbClr val="222A38"/>
                </a:solidFill>
                <a:latin typeface="Meiryo"/>
                <a:ea typeface="Meiryo"/>
                <a:cs typeface="Meiryo"/>
              </a:rPr>
              <a:t>📷  </a:t>
            </a:r>
            <a:r>
              <a:rPr sz="15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特長 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75109" y="2029968"/>
            <a:ext cx="1391481" cy="2350008"/>
          </a:xfrm>
          <a:prstGeom prst="rect">
            <a:avLst/>
          </a:prstGeom>
          <a:solidFill>
            <a:srgbClr val="E3E8F0"/>
          </a:solidFill>
          <a:ln>
            <a:noFill/>
          </a:ln>
          <a:effectLst/>
          <a:effectLst>
            <a:outerShdw blurRad="60960" dist="25400" dir="5400000" rotWithShape="0">
              <a:srgbClr val="1B2233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_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253" y="2039112"/>
            <a:ext cx="1373193" cy="23317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66928" y="4526280"/>
            <a:ext cx="2407843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600" b="1">
                <a:solidFill>
                  <a:srgbClr val="E23B50"/>
                </a:solidFill>
                <a:latin typeface="Meiryo"/>
                <a:ea typeface="Meiryo"/>
                <a:cs typeface="Meiryo"/>
              </a:rPr>
              <a:t>撮るだけで自動計測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5148071"/>
            <a:ext cx="2298115" cy="11430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222A38"/>
                </a:solidFill>
                <a:latin typeface="Meiryo"/>
                <a:ea typeface="Meiryo"/>
                <a:cs typeface="Meiryo"/>
              </a:rPr>
              <a:t>A4用紙の上で撮影した写真から、刃の輪郭を自動でエッジ検出。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40531" y="1325880"/>
            <a:ext cx="2627299" cy="50749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60960" dist="25400" dir="5400000" rotWithShape="0">
              <a:srgbClr val="1B2233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340531" y="1325880"/>
            <a:ext cx="2627299" cy="566928"/>
          </a:xfrm>
          <a:prstGeom prst="roundRect">
            <a:avLst/>
          </a:prstGeom>
          <a:solidFill>
            <a:srgbClr val="3D7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40531" y="1325880"/>
            <a:ext cx="2627299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700" b="0">
                <a:solidFill>
                  <a:srgbClr val="222A38"/>
                </a:solidFill>
                <a:latin typeface="Meiryo"/>
                <a:ea typeface="Meiryo"/>
                <a:cs typeface="Meiryo"/>
              </a:rPr>
              <a:t>📏  </a:t>
            </a:r>
            <a:r>
              <a:rPr sz="15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特長 02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742214" y="2029968"/>
            <a:ext cx="1823932" cy="2350008"/>
          </a:xfrm>
          <a:prstGeom prst="rect">
            <a:avLst/>
          </a:prstGeom>
          <a:solidFill>
            <a:srgbClr val="E3E8F0"/>
          </a:solidFill>
          <a:ln>
            <a:noFill/>
          </a:ln>
          <a:effectLst/>
          <a:effectLst>
            <a:outerShdw blurRad="60960" dist="25400" dir="5400000" rotWithShape="0">
              <a:srgbClr val="1B2233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f_cali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1358" y="2039112"/>
            <a:ext cx="1805644" cy="233172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3450259" y="4526280"/>
            <a:ext cx="2407843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600" b="1">
                <a:solidFill>
                  <a:srgbClr val="3D7ED8"/>
                </a:solidFill>
                <a:latin typeface="Meiryo"/>
                <a:ea typeface="Meiryo"/>
                <a:cs typeface="Meiryo"/>
              </a:rPr>
              <a:t>実寸を自動で校正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05123" y="5148071"/>
            <a:ext cx="2298115" cy="11430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222A38"/>
                </a:solidFill>
                <a:latin typeface="Meiryo"/>
                <a:ea typeface="Meiryo"/>
                <a:cs typeface="Meiryo"/>
              </a:rPr>
              <a:t>A4長辺297mmを基準に px/mm を算出。アゴ・切先指定で刃渡り曲線を自動生成。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23863" y="1325880"/>
            <a:ext cx="2627299" cy="50749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60960" dist="25400" dir="5400000" rotWithShape="0">
              <a:srgbClr val="1B2233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223863" y="1325880"/>
            <a:ext cx="2627299" cy="566928"/>
          </a:xfrm>
          <a:prstGeom prst="roundRect">
            <a:avLst/>
          </a:prstGeom>
          <a:solidFill>
            <a:srgbClr val="F2B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23863" y="1325880"/>
            <a:ext cx="2627299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700" b="0">
                <a:solidFill>
                  <a:srgbClr val="222A38"/>
                </a:solidFill>
                <a:latin typeface="Meiryo"/>
                <a:ea typeface="Meiryo"/>
                <a:cs typeface="Meiryo"/>
              </a:rPr>
              <a:t>📐  </a:t>
            </a:r>
            <a:r>
              <a:rPr sz="15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特長 03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725579" y="2029968"/>
            <a:ext cx="1623866" cy="2350008"/>
          </a:xfrm>
          <a:prstGeom prst="rect">
            <a:avLst/>
          </a:prstGeom>
          <a:solidFill>
            <a:srgbClr val="E3E8F0"/>
          </a:solidFill>
          <a:ln>
            <a:noFill/>
          </a:ln>
          <a:effectLst/>
          <a:effectLst>
            <a:outerShdw blurRad="60960" dist="25400" dir="5400000" rotWithShape="0">
              <a:srgbClr val="1B2233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f_blad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4723" y="2039112"/>
            <a:ext cx="1605578" cy="233172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333591" y="4526280"/>
            <a:ext cx="2407843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600" b="1">
                <a:solidFill>
                  <a:srgbClr val="F2B13C"/>
                </a:solidFill>
                <a:latin typeface="Meiryo"/>
                <a:ea typeface="Meiryo"/>
                <a:cs typeface="Meiryo"/>
              </a:rPr>
              <a:t>刃先の断面を自由設計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88455" y="5148071"/>
            <a:ext cx="2298115" cy="11430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222A38"/>
                </a:solidFill>
                <a:latin typeface="Meiryo"/>
                <a:ea typeface="Meiryo"/>
                <a:cs typeface="Meiryo"/>
              </a:rPr>
              <a:t>段ごとに研ぎ角度θL／θRを設定。刃付けに合わせた断面を作成できます。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07195" y="1325880"/>
            <a:ext cx="2627299" cy="50749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60960" dist="25400" dir="5400000" rotWithShape="0">
              <a:srgbClr val="1B2233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107195" y="1325880"/>
            <a:ext cx="2627299" cy="566928"/>
          </a:xfrm>
          <a:prstGeom prst="roundRect">
            <a:avLst/>
          </a:prstGeom>
          <a:solidFill>
            <a:srgbClr val="14A8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07195" y="1325880"/>
            <a:ext cx="2627299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700" b="0">
                <a:solidFill>
                  <a:srgbClr val="222A38"/>
                </a:solidFill>
                <a:latin typeface="Meiryo"/>
                <a:ea typeface="Meiryo"/>
                <a:cs typeface="Meiryo"/>
              </a:rPr>
              <a:t>📥  </a:t>
            </a:r>
            <a:r>
              <a:rPr sz="15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特長 04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415966" y="2029968"/>
            <a:ext cx="2009757" cy="2350008"/>
          </a:xfrm>
          <a:prstGeom prst="rect">
            <a:avLst/>
          </a:prstGeom>
          <a:solidFill>
            <a:srgbClr val="E3E8F0"/>
          </a:solidFill>
          <a:ln>
            <a:noFill/>
          </a:ln>
          <a:effectLst/>
          <a:effectLst>
            <a:outerShdw blurRad="60960" dist="25400" dir="5400000" rotWithShape="0">
              <a:srgbClr val="1B2233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f_result3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25110" y="2039112"/>
            <a:ext cx="1991469" cy="233172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9216923" y="4526280"/>
            <a:ext cx="2407843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600" b="1">
                <a:solidFill>
                  <a:srgbClr val="14A86E"/>
                </a:solidFill>
                <a:latin typeface="Meiryo"/>
                <a:ea typeface="Meiryo"/>
                <a:cs typeface="Meiryo"/>
              </a:rPr>
              <a:t>RoboDK用CSVを出力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71787" y="5148071"/>
            <a:ext cx="2298115" cy="11430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222A38"/>
                </a:solidFill>
                <a:latin typeface="Meiryo"/>
                <a:ea typeface="Meiryo"/>
                <a:cs typeface="Meiryo"/>
              </a:rPr>
              <a:t>刃渡り曲線に断面を合わせ、研磨ルートをCSVで出力。ロボットへそのまま投入。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21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0800"/>
          </a:xfrm>
          <a:prstGeom prst="rect">
            <a:avLst/>
          </a:prstGeom>
          <a:solidFill>
            <a:srgbClr val="E23B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310896"/>
            <a:ext cx="101600" cy="420624"/>
          </a:xfrm>
          <a:prstGeom prst="rect">
            <a:avLst/>
          </a:prstGeom>
          <a:solidFill>
            <a:srgbClr val="E23B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0"/>
            <a:ext cx="7772400" cy="10241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仕組みと導入メリット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0"/>
            <a:ext cx="7253935" cy="10241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500" b="0">
                <a:solidFill>
                  <a:srgbClr val="9FB4D8"/>
                </a:solidFill>
                <a:latin typeface="Meiryo"/>
                <a:ea typeface="Meiryo"/>
                <a:cs typeface="Meiryo"/>
              </a:rPr>
              <a:t>３ステップで研磨ルートが完成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25880"/>
            <a:ext cx="3393338" cy="31546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60960" dist="25400" dir="5400000" rotWithShape="0">
              <a:srgbClr val="1B2233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1325880"/>
            <a:ext cx="1371600" cy="457200"/>
          </a:xfrm>
          <a:prstGeom prst="roundRect">
            <a:avLst/>
          </a:prstGeom>
          <a:solidFill>
            <a:srgbClr val="E23B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325880"/>
            <a:ext cx="137160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STEP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1325880"/>
            <a:ext cx="1930298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550" b="1">
                <a:solidFill>
                  <a:srgbClr val="222A38"/>
                </a:solidFill>
                <a:latin typeface="Meiryo"/>
                <a:ea typeface="Meiryo"/>
                <a:cs typeface="Meiryo"/>
              </a:rPr>
              <a:t>撮影する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1517" y="1865376"/>
            <a:ext cx="2676144" cy="2011680"/>
          </a:xfrm>
          <a:prstGeom prst="rect">
            <a:avLst/>
          </a:prstGeom>
          <a:solidFill>
            <a:srgbClr val="E3E8F0"/>
          </a:solidFill>
          <a:ln>
            <a:noFill/>
          </a:ln>
          <a:effectLst/>
          <a:effectLst>
            <a:outerShdw blurRad="60960" dist="25400" dir="5400000" rotWithShape="0">
              <a:srgbClr val="1B2233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hero_phot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661" y="1874520"/>
            <a:ext cx="2657856" cy="199339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67512" y="3931920"/>
            <a:ext cx="3064154" cy="502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8000"/>
              </a:lnSpc>
            </a:pPr>
            <a:r>
              <a:rPr sz="1250" b="0">
                <a:solidFill>
                  <a:srgbClr val="5A6678"/>
                </a:solidFill>
                <a:latin typeface="Meiryo"/>
                <a:ea typeface="Meiryo"/>
                <a:cs typeface="Meiryo"/>
              </a:rPr>
              <a:t>A4用紙の上に包丁を置いて、真上から1枚撮影</a:t>
            </a:r>
          </a:p>
        </p:txBody>
      </p:sp>
      <p:sp>
        <p:nvSpPr>
          <p:cNvPr id="14" name="Chevron 13"/>
          <p:cNvSpPr/>
          <p:nvPr/>
        </p:nvSpPr>
        <p:spPr>
          <a:xfrm>
            <a:off x="3932834" y="2683764"/>
            <a:ext cx="438912" cy="438912"/>
          </a:xfrm>
          <a:prstGeom prst="chevron">
            <a:avLst/>
          </a:prstGeom>
          <a:solidFill>
            <a:srgbClr val="B7C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399178" y="1325880"/>
            <a:ext cx="3393338" cy="31546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60960" dist="25400" dir="5400000" rotWithShape="0">
              <a:srgbClr val="1B2233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399178" y="1325880"/>
            <a:ext cx="1371600" cy="457200"/>
          </a:xfrm>
          <a:prstGeom prst="roundRect">
            <a:avLst/>
          </a:prstGeom>
          <a:solidFill>
            <a:srgbClr val="3D7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99178" y="1325880"/>
            <a:ext cx="137160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STEP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16498" y="1325880"/>
            <a:ext cx="1930298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550" b="1">
                <a:solidFill>
                  <a:srgbClr val="222A38"/>
                </a:solidFill>
                <a:latin typeface="Meiryo"/>
                <a:ea typeface="Meiryo"/>
                <a:cs typeface="Meiryo"/>
              </a:rPr>
              <a:t>自動計測・形状設計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314878" y="1865376"/>
            <a:ext cx="1561937" cy="2011680"/>
          </a:xfrm>
          <a:prstGeom prst="rect">
            <a:avLst/>
          </a:prstGeom>
          <a:solidFill>
            <a:srgbClr val="E3E8F0"/>
          </a:solidFill>
          <a:ln>
            <a:noFill/>
          </a:ln>
          <a:effectLst/>
          <a:effectLst>
            <a:outerShdw blurRad="60960" dist="25400" dir="5400000" rotWithShape="0">
              <a:srgbClr val="1B2233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f_cali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4022" y="1874520"/>
            <a:ext cx="1543649" cy="1993392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563770" y="3931920"/>
            <a:ext cx="3064154" cy="502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8000"/>
              </a:lnSpc>
            </a:pPr>
            <a:r>
              <a:rPr sz="1250" b="0">
                <a:solidFill>
                  <a:srgbClr val="5A6678"/>
                </a:solidFill>
                <a:latin typeface="Meiryo"/>
                <a:ea typeface="Meiryo"/>
                <a:cs typeface="Meiryo"/>
              </a:rPr>
              <a:t>実寸を自動校正し、刃渡り曲線と刃先断面を作成</a:t>
            </a:r>
          </a:p>
        </p:txBody>
      </p:sp>
      <p:sp>
        <p:nvSpPr>
          <p:cNvPr id="22" name="Chevron 21"/>
          <p:cNvSpPr/>
          <p:nvPr/>
        </p:nvSpPr>
        <p:spPr>
          <a:xfrm>
            <a:off x="7829092" y="2683764"/>
            <a:ext cx="438912" cy="438912"/>
          </a:xfrm>
          <a:prstGeom prst="chevron">
            <a:avLst/>
          </a:prstGeom>
          <a:solidFill>
            <a:srgbClr val="B7C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295436" y="1325880"/>
            <a:ext cx="3393338" cy="31546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60960" dist="25400" dir="5400000" rotWithShape="0">
              <a:srgbClr val="1B2233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295436" y="1325880"/>
            <a:ext cx="1371600" cy="457200"/>
          </a:xfrm>
          <a:prstGeom prst="roundRect">
            <a:avLst/>
          </a:prstGeom>
          <a:solidFill>
            <a:srgbClr val="14A8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95436" y="1325880"/>
            <a:ext cx="137160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STEP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12756" y="1325880"/>
            <a:ext cx="1930298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550" b="1">
                <a:solidFill>
                  <a:srgbClr val="222A38"/>
                </a:solidFill>
                <a:latin typeface="Meiryo"/>
                <a:ea typeface="Meiryo"/>
                <a:cs typeface="Meiryo"/>
              </a:rPr>
              <a:t>研磨ルートを出力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31706" y="1865376"/>
            <a:ext cx="1720798" cy="2011680"/>
          </a:xfrm>
          <a:prstGeom prst="rect">
            <a:avLst/>
          </a:prstGeom>
          <a:solidFill>
            <a:srgbClr val="E3E8F0"/>
          </a:solidFill>
          <a:ln>
            <a:noFill/>
          </a:ln>
          <a:effectLst/>
          <a:effectLst>
            <a:outerShdw blurRad="60960" dist="25400" dir="5400000" rotWithShape="0">
              <a:srgbClr val="1B2233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f_result3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0850" y="1874520"/>
            <a:ext cx="1702510" cy="1993392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8460028" y="3931920"/>
            <a:ext cx="3064154" cy="502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8000"/>
              </a:lnSpc>
            </a:pPr>
            <a:r>
              <a:rPr sz="1250" b="0">
                <a:solidFill>
                  <a:srgbClr val="5A6678"/>
                </a:solidFill>
                <a:latin typeface="Meiryo"/>
                <a:ea typeface="Meiryo"/>
                <a:cs typeface="Meiryo"/>
              </a:rPr>
              <a:t>研磨ルートCSVを出力 → RoboDKへ読み込み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4800600"/>
            <a:ext cx="11185855" cy="1627632"/>
          </a:xfrm>
          <a:prstGeom prst="roundRect">
            <a:avLst/>
          </a:prstGeom>
          <a:solidFill>
            <a:srgbClr val="121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4946904"/>
            <a:ext cx="100584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800" b="1">
                <a:solidFill>
                  <a:srgbClr val="F2B13C"/>
                </a:solidFill>
                <a:latin typeface="Meiryo"/>
                <a:ea typeface="Meiryo"/>
                <a:cs typeface="Meiryo"/>
              </a:rPr>
              <a:t>導入メリット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5404104"/>
            <a:ext cx="3545738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4A86E"/>
                </a:solidFill>
                <a:latin typeface="Meiryo"/>
                <a:ea typeface="Meiryo"/>
                <a:cs typeface="Meiryo"/>
              </a:rPr>
              <a:t>● </a:t>
            </a:r>
            <a:r>
              <a:rPr sz="15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属人化の解消</a:t>
            </a:r>
          </a:p>
          <a:p>
            <a:pPr algn="l">
              <a:lnSpc>
                <a:spcPct val="110000"/>
              </a:lnSpc>
            </a:pPr>
            <a:r>
              <a:rPr sz="1250" b="0">
                <a:solidFill>
                  <a:srgbClr val="CFDAEC"/>
                </a:solidFill>
                <a:latin typeface="Meiryo"/>
                <a:ea typeface="Meiryo"/>
                <a:cs typeface="Meiryo"/>
              </a:rPr>
              <a:t>熟練者の手作業に頼っていた研磨を、誰でも同じ手順で再現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97298" y="5404104"/>
            <a:ext cx="3545738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4A86E"/>
                </a:solidFill>
                <a:latin typeface="Meiryo"/>
                <a:ea typeface="Meiryo"/>
                <a:cs typeface="Meiryo"/>
              </a:rPr>
              <a:t>● </a:t>
            </a:r>
            <a:r>
              <a:rPr sz="15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計測の手間を削減</a:t>
            </a:r>
          </a:p>
          <a:p>
            <a:pPr algn="l">
              <a:lnSpc>
                <a:spcPct val="110000"/>
              </a:lnSpc>
            </a:pPr>
            <a:r>
              <a:rPr sz="1250" b="0">
                <a:solidFill>
                  <a:srgbClr val="CFDAEC"/>
                </a:solidFill>
                <a:latin typeface="Meiryo"/>
                <a:ea typeface="Meiryo"/>
                <a:cs typeface="Meiryo"/>
              </a:rPr>
              <a:t>専用の計測器なしで、写真から刃渡り・形状を自動取得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7356" y="5404104"/>
            <a:ext cx="3545738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4A86E"/>
                </a:solidFill>
                <a:latin typeface="Meiryo"/>
                <a:ea typeface="Meiryo"/>
                <a:cs typeface="Meiryo"/>
              </a:rPr>
              <a:t>● </a:t>
            </a:r>
            <a:r>
              <a:rPr sz="15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高い再現性</a:t>
            </a:r>
          </a:p>
          <a:p>
            <a:pPr algn="l">
              <a:lnSpc>
                <a:spcPct val="110000"/>
              </a:lnSpc>
            </a:pPr>
            <a:r>
              <a:rPr sz="1250" b="0">
                <a:solidFill>
                  <a:srgbClr val="CFDAEC"/>
                </a:solidFill>
                <a:latin typeface="Meiryo"/>
                <a:ea typeface="Meiryo"/>
                <a:cs typeface="Meiryo"/>
              </a:rPr>
              <a:t>数値化された研磨ルートで、安定した品質と省力化を両立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